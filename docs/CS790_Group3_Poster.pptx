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</p:sldIdLst>
  <p:sldSz cy="21945600" cx="32918400"/>
  <p:notesSz cx="21945600" cy="329184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6" roundtripDataSignature="AMtx7migsf3UezPingQ1m4nsNxDG2P6ij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da86e2f604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g3da86e2f604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" name="Google Shape;14;g3da86e2f604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1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10.png"/><Relationship Id="rId9" Type="http://schemas.openxmlformats.org/officeDocument/2006/relationships/image" Target="../media/image9.png"/><Relationship Id="rId10" Type="http://schemas.openxmlformats.org/officeDocument/2006/relationships/image" Target="../media/image2.png"/><Relationship Id="rId11" Type="http://schemas.openxmlformats.org/officeDocument/2006/relationships/image" Target="../media/image11.png"/><Relationship Id="rId12" Type="http://schemas.openxmlformats.org/officeDocument/2006/relationships/image" Target="../media/image3.png"/><Relationship Id="rId1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3da86e2f604_0_0"/>
          <p:cNvSpPr/>
          <p:nvPr/>
        </p:nvSpPr>
        <p:spPr>
          <a:xfrm>
            <a:off x="0" y="0"/>
            <a:ext cx="32918400" cy="2194500"/>
          </a:xfrm>
          <a:prstGeom prst="rect">
            <a:avLst/>
          </a:prstGeom>
          <a:solidFill>
            <a:srgbClr val="2D3A4F"/>
          </a:solidFill>
          <a:ln cap="flat" cmpd="sng" w="12700">
            <a:solidFill>
              <a:srgbClr val="2D3A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g3da86e2f604_0_0"/>
          <p:cNvSpPr/>
          <p:nvPr/>
        </p:nvSpPr>
        <p:spPr>
          <a:xfrm>
            <a:off x="457200" y="137160"/>
            <a:ext cx="320040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Generative AI for Hand Osteoarthritis Simulation: Improving Rare-Grade KL Classification with Latent Diffusion </a:t>
            </a:r>
            <a:endParaRPr b="1" i="0" sz="5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g3da86e2f604_0_0"/>
          <p:cNvSpPr/>
          <p:nvPr/>
        </p:nvSpPr>
        <p:spPr>
          <a:xfrm>
            <a:off x="457200" y="1035317"/>
            <a:ext cx="21031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900"/>
              <a:buFont typeface="Calibri"/>
              <a:buNone/>
            </a:pPr>
            <a:r>
              <a:rPr b="0" i="1" lang="en-US" sz="30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Class-conditional latent diffusion improves rare-grade KL classification on hand X-rays</a:t>
            </a:r>
            <a:endParaRPr b="0" i="0" sz="3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g3da86e2f604_0_0"/>
          <p:cNvSpPr/>
          <p:nvPr/>
        </p:nvSpPr>
        <p:spPr>
          <a:xfrm>
            <a:off x="457200" y="1578904"/>
            <a:ext cx="21031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Maria Martin  ·  Zulal Akarsu  ·  Jai Sharma     |     Group 3 · Track 3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g3da86e2f604_0_0"/>
          <p:cNvSpPr/>
          <p:nvPr/>
        </p:nvSpPr>
        <p:spPr>
          <a:xfrm>
            <a:off x="21488400" y="1160646"/>
            <a:ext cx="10972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700"/>
              <a:buFont typeface="Calibri"/>
              <a:buNone/>
            </a:pPr>
            <a:r>
              <a:rPr b="0" i="0" lang="en-US" sz="24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Boston University, Metropolitan College  ·  MET CS 790: Advanced Computer Vision 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g3da86e2f604_0_0"/>
          <p:cNvSpPr/>
          <p:nvPr/>
        </p:nvSpPr>
        <p:spPr>
          <a:xfrm>
            <a:off x="21488400" y="1629036"/>
            <a:ext cx="10972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Prof. Ming Zhang   ·   April 2026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g3da86e2f604_0_0"/>
          <p:cNvSpPr/>
          <p:nvPr/>
        </p:nvSpPr>
        <p:spPr>
          <a:xfrm>
            <a:off x="365760" y="2521819"/>
            <a:ext cx="7841100" cy="18471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g3da86e2f604_0_0"/>
          <p:cNvSpPr/>
          <p:nvPr/>
        </p:nvSpPr>
        <p:spPr>
          <a:xfrm>
            <a:off x="8481060" y="2521819"/>
            <a:ext cx="7841100" cy="18471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g3da86e2f604_0_0"/>
          <p:cNvSpPr/>
          <p:nvPr/>
        </p:nvSpPr>
        <p:spPr>
          <a:xfrm>
            <a:off x="16596360" y="2521819"/>
            <a:ext cx="7841100" cy="18471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g3da86e2f604_0_0"/>
          <p:cNvSpPr/>
          <p:nvPr/>
        </p:nvSpPr>
        <p:spPr>
          <a:xfrm>
            <a:off x="24711660" y="2513352"/>
            <a:ext cx="7841100" cy="18471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g3da86e2f604_0_0"/>
          <p:cNvSpPr/>
          <p:nvPr/>
        </p:nvSpPr>
        <p:spPr>
          <a:xfrm>
            <a:off x="365760" y="2521819"/>
            <a:ext cx="7841100" cy="914400"/>
          </a:xfrm>
          <a:prstGeom prst="rect">
            <a:avLst/>
          </a:prstGeom>
          <a:solidFill>
            <a:srgbClr val="475569"/>
          </a:solidFill>
          <a:ln cap="flat" cmpd="sng" w="12700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g3da86e2f604_0_0"/>
          <p:cNvSpPr/>
          <p:nvPr/>
        </p:nvSpPr>
        <p:spPr>
          <a:xfrm>
            <a:off x="731520" y="2521819"/>
            <a:ext cx="73839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 b="1" i="0" sz="4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g3da86e2f604_0_0"/>
          <p:cNvSpPr/>
          <p:nvPr/>
        </p:nvSpPr>
        <p:spPr>
          <a:xfrm>
            <a:off x="617300" y="3579642"/>
            <a:ext cx="7200900" cy="1491900"/>
          </a:xfrm>
          <a:prstGeom prst="rect">
            <a:avLst/>
          </a:prstGeom>
          <a:solidFill>
            <a:srgbClr val="0B539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228600" marR="879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A4F"/>
              </a:buClr>
              <a:buSzPts val="22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2.9% severe-grade scarcity</a:t>
            </a:r>
            <a:endParaRPr b="1" i="0" sz="30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A4F"/>
              </a:buClr>
              <a:buSzPts val="2200"/>
              <a:buFont typeface="Calibri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Hand OA affects ~40% of adults over </a:t>
            </a:r>
            <a:r>
              <a:rPr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r>
              <a:rPr b="0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0, yet KL 3 &amp; 4 (severe disease) make up only 2.9% of training data — the cases that drive clinical decisions.</a:t>
            </a:r>
            <a:endParaRPr b="0" i="0" sz="20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g3da86e2f604_0_0"/>
          <p:cNvSpPr/>
          <p:nvPr/>
        </p:nvSpPr>
        <p:spPr>
          <a:xfrm>
            <a:off x="617300" y="5186450"/>
            <a:ext cx="7200900" cy="11964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A4F"/>
              </a:buClr>
              <a:buSzPts val="22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118 vs 5,947</a:t>
            </a:r>
            <a:endParaRPr b="1" i="0" sz="30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A4F"/>
              </a:buClr>
              <a:buSzPts val="2200"/>
              <a:buFont typeface="Calibri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Only 118 real KL 4 (severe) training images vs 5,947 KL 0 (healthy). A 50× imbalance on the grades that matter most.</a:t>
            </a:r>
            <a:endParaRPr b="0" i="0" sz="20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g3da86e2f604_0_0"/>
          <p:cNvSpPr/>
          <p:nvPr/>
        </p:nvSpPr>
        <p:spPr>
          <a:xfrm>
            <a:off x="617306" y="6582222"/>
            <a:ext cx="72009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A4F"/>
              </a:buClr>
              <a:buSzPts val="1700"/>
              <a:buFont typeface="Calibri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Dataset: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13,176 DIP joint X-rays from 3,505 patients (BU / Tufts Medical Center). Patient-level 70/15/15 splits, zero leakage.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" name="Google Shape;31;g3da86e2f604_0_0"/>
          <p:cNvCxnSpPr/>
          <p:nvPr/>
        </p:nvCxnSpPr>
        <p:spPr>
          <a:xfrm>
            <a:off x="617306" y="7284930"/>
            <a:ext cx="7200900" cy="0"/>
          </a:xfrm>
          <a:prstGeom prst="straightConnector1">
            <a:avLst/>
          </a:prstGeom>
          <a:noFill/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g3da86e2f604_0_0"/>
          <p:cNvSpPr/>
          <p:nvPr/>
        </p:nvSpPr>
        <p:spPr>
          <a:xfrm>
            <a:off x="617306" y="7468515"/>
            <a:ext cx="7200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A4F"/>
              </a:buClr>
              <a:buSzPts val="1800"/>
              <a:buFont typeface="Calibri"/>
              <a:buNone/>
            </a:pPr>
            <a:r>
              <a:rPr b="1" i="0" lang="en-US" sz="2600" u="none" cap="none" strike="noStrike">
                <a:solidFill>
                  <a:srgbClr val="2D3A4F"/>
                </a:solidFill>
                <a:latin typeface="Calibri"/>
                <a:ea typeface="Calibri"/>
                <a:cs typeface="Calibri"/>
                <a:sym typeface="Calibri"/>
              </a:rPr>
              <a:t>KL Grade Distribution (training set)</a:t>
            </a:r>
            <a:endParaRPr b="0" i="0" sz="2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" name="Google Shape;33;g3da86e2f604_0_0"/>
          <p:cNvCxnSpPr/>
          <p:nvPr/>
        </p:nvCxnSpPr>
        <p:spPr>
          <a:xfrm>
            <a:off x="617306" y="13055831"/>
            <a:ext cx="7200900" cy="0"/>
          </a:xfrm>
          <a:prstGeom prst="straightConnector1">
            <a:avLst/>
          </a:prstGeom>
          <a:noFill/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" name="Google Shape;34;g3da86e2f604_0_0"/>
          <p:cNvSpPr/>
          <p:nvPr/>
        </p:nvSpPr>
        <p:spPr>
          <a:xfrm>
            <a:off x="617306" y="11411050"/>
            <a:ext cx="7200900" cy="1463100"/>
          </a:xfrm>
          <a:prstGeom prst="rect">
            <a:avLst/>
          </a:prstGeom>
          <a:solidFill>
            <a:srgbClr val="F0F7FF"/>
          </a:solidFill>
          <a:ln cap="flat" cmpd="sng" w="12700">
            <a:solidFill>
              <a:srgbClr val="2D3A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g3da86e2f604_0_0"/>
          <p:cNvSpPr/>
          <p:nvPr/>
        </p:nvSpPr>
        <p:spPr>
          <a:xfrm>
            <a:off x="594475" y="11411050"/>
            <a:ext cx="137100" cy="1463100"/>
          </a:xfrm>
          <a:prstGeom prst="rect">
            <a:avLst/>
          </a:prstGeom>
          <a:solidFill>
            <a:srgbClr val="2D3A4F"/>
          </a:solidFill>
          <a:ln cap="flat" cmpd="sng" w="12700">
            <a:solidFill>
              <a:srgbClr val="2D3A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g3da86e2f604_0_0"/>
          <p:cNvSpPr/>
          <p:nvPr/>
        </p:nvSpPr>
        <p:spPr>
          <a:xfrm>
            <a:off x="998300" y="11618924"/>
            <a:ext cx="6591300" cy="4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A4F"/>
              </a:buClr>
              <a:buSzPts val="1800"/>
              <a:buFont typeface="Calibri"/>
              <a:buNone/>
            </a:pPr>
            <a:r>
              <a:rPr b="1" i="0" lang="en-US" sz="2400" u="none" cap="none" strike="noStrike">
                <a:solidFill>
                  <a:srgbClr val="2D3A4F"/>
                </a:solidFill>
                <a:latin typeface="Calibri"/>
                <a:ea typeface="Calibri"/>
                <a:cs typeface="Calibri"/>
                <a:sym typeface="Calibri"/>
              </a:rPr>
              <a:t>Research Question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g3da86e2f604_0_0"/>
          <p:cNvSpPr/>
          <p:nvPr/>
        </p:nvSpPr>
        <p:spPr>
          <a:xfrm>
            <a:off x="964100" y="12100875"/>
            <a:ext cx="6801000" cy="6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7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Can class-conditional synthetic X-rays improve classification of rare severe hand OA (KL 3/4)? Does diffusion outperform GAN translation?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" name="Google Shape;38;g3da86e2f604_0_0"/>
          <p:cNvCxnSpPr/>
          <p:nvPr/>
        </p:nvCxnSpPr>
        <p:spPr>
          <a:xfrm>
            <a:off x="617306" y="11229372"/>
            <a:ext cx="7200900" cy="0"/>
          </a:xfrm>
          <a:prstGeom prst="straightConnector1">
            <a:avLst/>
          </a:prstGeom>
          <a:noFill/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g3da86e2f604_0_0"/>
          <p:cNvSpPr/>
          <p:nvPr/>
        </p:nvSpPr>
        <p:spPr>
          <a:xfrm>
            <a:off x="617306" y="13115721"/>
            <a:ext cx="7200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A4F"/>
              </a:buClr>
              <a:buSzPts val="1800"/>
              <a:buFont typeface="Calibri"/>
              <a:buNone/>
            </a:pPr>
            <a:r>
              <a:rPr b="1" i="0" lang="en-US" sz="2600" u="none" cap="none" strike="noStrike">
                <a:solidFill>
                  <a:srgbClr val="2D3A4F"/>
                </a:solidFill>
                <a:latin typeface="Calibri"/>
                <a:ea typeface="Calibri"/>
                <a:cs typeface="Calibri"/>
                <a:sym typeface="Calibri"/>
              </a:rPr>
              <a:t>Sample DIP X-rays · KL 0 → KL 4</a:t>
            </a:r>
            <a:endParaRPr b="0" i="0" sz="2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g3da86e2f604_0_0"/>
          <p:cNvSpPr/>
          <p:nvPr/>
        </p:nvSpPr>
        <p:spPr>
          <a:xfrm>
            <a:off x="8481060" y="2521819"/>
            <a:ext cx="7841100" cy="914400"/>
          </a:xfrm>
          <a:prstGeom prst="rect">
            <a:avLst/>
          </a:prstGeom>
          <a:solidFill>
            <a:srgbClr val="475569"/>
          </a:solidFill>
          <a:ln cap="flat" cmpd="sng" w="12700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g3da86e2f604_0_0"/>
          <p:cNvSpPr/>
          <p:nvPr/>
        </p:nvSpPr>
        <p:spPr>
          <a:xfrm>
            <a:off x="8846820" y="2521819"/>
            <a:ext cx="73839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Methods</a:t>
            </a:r>
            <a:endParaRPr b="1" i="0" sz="4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g3da86e2f604_0_0"/>
          <p:cNvSpPr/>
          <p:nvPr/>
        </p:nvSpPr>
        <p:spPr>
          <a:xfrm>
            <a:off x="8801100" y="4304900"/>
            <a:ext cx="3486300" cy="2014200"/>
          </a:xfrm>
          <a:prstGeom prst="rect">
            <a:avLst/>
          </a:prstGeom>
          <a:solidFill>
            <a:srgbClr val="F7F8FA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g3da86e2f604_0_0"/>
          <p:cNvSpPr/>
          <p:nvPr/>
        </p:nvSpPr>
        <p:spPr>
          <a:xfrm>
            <a:off x="8801100" y="3802099"/>
            <a:ext cx="3486300" cy="914400"/>
          </a:xfrm>
          <a:prstGeom prst="rect">
            <a:avLst/>
          </a:prstGeom>
          <a:solidFill>
            <a:srgbClr val="6B7280"/>
          </a:solidFill>
          <a:ln cap="flat" cmpd="sng" w="12700">
            <a:solidFill>
              <a:srgbClr val="6B72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g3da86e2f604_0_0"/>
          <p:cNvSpPr/>
          <p:nvPr/>
        </p:nvSpPr>
        <p:spPr>
          <a:xfrm>
            <a:off x="8938250" y="3802102"/>
            <a:ext cx="3166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CycleGAN </a:t>
            </a:r>
            <a:endParaRPr b="1" i="0" sz="2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(baseline)</a:t>
            </a:r>
            <a:endParaRPr b="0" i="0" sz="2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g3da86e2f604_0_0"/>
          <p:cNvSpPr/>
          <p:nvPr/>
        </p:nvSpPr>
        <p:spPr>
          <a:xfrm>
            <a:off x="8983980" y="4752506"/>
            <a:ext cx="3166200" cy="14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Two-domain only:</a:t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None/>
            </a:pPr>
            <a:r>
              <a:rPr b="0" i="1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healthy ↔ diseased</a:t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Calibri"/>
              <a:buNone/>
            </a:pPr>
            <a:r>
              <a:rPr b="0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1" lang="en-US" sz="22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→ Binary task only</a:t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g3da86e2f604_0_0"/>
          <p:cNvSpPr/>
          <p:nvPr/>
        </p:nvSpPr>
        <p:spPr>
          <a:xfrm>
            <a:off x="12515850" y="4304900"/>
            <a:ext cx="3486300" cy="2014200"/>
          </a:xfrm>
          <a:prstGeom prst="rect">
            <a:avLst/>
          </a:prstGeom>
          <a:solidFill>
            <a:srgbClr val="F7F8FA"/>
          </a:solidFill>
          <a:ln cap="flat" cmpd="sng" w="19050">
            <a:solidFill>
              <a:srgbClr val="2D3A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g3da86e2f604_0_0"/>
          <p:cNvSpPr/>
          <p:nvPr/>
        </p:nvSpPr>
        <p:spPr>
          <a:xfrm>
            <a:off x="12515850" y="3802099"/>
            <a:ext cx="3486300" cy="914400"/>
          </a:xfrm>
          <a:prstGeom prst="rect">
            <a:avLst/>
          </a:prstGeom>
          <a:solidFill>
            <a:srgbClr val="2D3A4F"/>
          </a:solidFill>
          <a:ln cap="flat" cmpd="sng" w="12700">
            <a:solidFill>
              <a:srgbClr val="2D3A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g3da86e2f604_0_0"/>
          <p:cNvSpPr/>
          <p:nvPr/>
        </p:nvSpPr>
        <p:spPr>
          <a:xfrm>
            <a:off x="12790100" y="3802100"/>
            <a:ext cx="3166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Latent Diffusion  (primary)</a:t>
            </a:r>
            <a:endParaRPr b="0" i="0" sz="2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g3da86e2f604_0_0"/>
          <p:cNvSpPr/>
          <p:nvPr/>
        </p:nvSpPr>
        <p:spPr>
          <a:xfrm>
            <a:off x="12698730" y="4752506"/>
            <a:ext cx="3166200" cy="14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Class-conditional:</a:t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None/>
            </a:pPr>
            <a:r>
              <a:rPr b="0" i="1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specific KL grade per image</a:t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Calibri"/>
              <a:buNone/>
            </a:pPr>
            <a:r>
              <a:rPr b="0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1" lang="en-US" sz="22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→ Binary + 5-class tasks</a:t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" name="Google Shape;50;g3da86e2f604_0_0"/>
          <p:cNvCxnSpPr/>
          <p:nvPr/>
        </p:nvCxnSpPr>
        <p:spPr>
          <a:xfrm>
            <a:off x="8801150" y="6502927"/>
            <a:ext cx="7200900" cy="0"/>
          </a:xfrm>
          <a:prstGeom prst="straightConnector1">
            <a:avLst/>
          </a:prstGeom>
          <a:noFill/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g3da86e2f604_0_0"/>
          <p:cNvSpPr/>
          <p:nvPr/>
        </p:nvSpPr>
        <p:spPr>
          <a:xfrm>
            <a:off x="8801150" y="6647287"/>
            <a:ext cx="7200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A4F"/>
              </a:buClr>
              <a:buSzPts val="2000"/>
              <a:buFont typeface="Calibri"/>
              <a:buNone/>
            </a:pPr>
            <a:r>
              <a:rPr b="1" i="0" lang="en-US" sz="2600" u="none" cap="none" strike="noStrike">
                <a:solidFill>
                  <a:srgbClr val="2D3A4F"/>
                </a:solidFill>
                <a:latin typeface="Calibri"/>
                <a:ea typeface="Calibri"/>
                <a:cs typeface="Calibri"/>
                <a:sym typeface="Calibri"/>
              </a:rPr>
              <a:t>LDM Pipeline: Class-Conditional Embeddings KL 0-4</a:t>
            </a:r>
            <a:endParaRPr b="1" i="0" sz="2600" u="none" cap="none" strike="noStrike">
              <a:solidFill>
                <a:srgbClr val="2D3A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A4F"/>
              </a:buClr>
              <a:buSzPts val="2000"/>
              <a:buFont typeface="Calibri"/>
              <a:buNone/>
            </a:pPr>
            <a:r>
              <a:t/>
            </a:r>
            <a:endParaRPr b="1" i="0" sz="2600" u="none" cap="none" strike="noStrike">
              <a:solidFill>
                <a:srgbClr val="2D3A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2" name="Google Shape;52;g3da86e2f604_0_0"/>
          <p:cNvCxnSpPr/>
          <p:nvPr/>
        </p:nvCxnSpPr>
        <p:spPr>
          <a:xfrm>
            <a:off x="8801125" y="15188427"/>
            <a:ext cx="7200900" cy="0"/>
          </a:xfrm>
          <a:prstGeom prst="straightConnector1">
            <a:avLst/>
          </a:prstGeom>
          <a:noFill/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" name="Google Shape;53;g3da86e2f604_0_0"/>
          <p:cNvSpPr/>
          <p:nvPr/>
        </p:nvSpPr>
        <p:spPr>
          <a:xfrm>
            <a:off x="16596360" y="2521819"/>
            <a:ext cx="7841100" cy="914400"/>
          </a:xfrm>
          <a:prstGeom prst="rect">
            <a:avLst/>
          </a:prstGeom>
          <a:solidFill>
            <a:srgbClr val="475569"/>
          </a:solidFill>
          <a:ln cap="flat" cmpd="sng" w="12700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g3da86e2f604_0_0"/>
          <p:cNvSpPr/>
          <p:nvPr/>
        </p:nvSpPr>
        <p:spPr>
          <a:xfrm>
            <a:off x="16962120" y="2521819"/>
            <a:ext cx="73839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Results</a:t>
            </a:r>
            <a:endParaRPr b="1" i="0" sz="4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g3da86e2f604_0_0"/>
          <p:cNvSpPr/>
          <p:nvPr/>
        </p:nvSpPr>
        <p:spPr>
          <a:xfrm>
            <a:off x="16910225" y="3673565"/>
            <a:ext cx="6993600" cy="1224600"/>
          </a:xfrm>
          <a:prstGeom prst="rect">
            <a:avLst/>
          </a:prstGeom>
          <a:solidFill>
            <a:srgbClr val="F7F8FA"/>
          </a:solidFill>
          <a:ln cap="flat" cmpd="sng" w="28575">
            <a:solidFill>
              <a:srgbClr val="0E9F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g3da86e2f604_0_0"/>
          <p:cNvSpPr/>
          <p:nvPr/>
        </p:nvSpPr>
        <p:spPr>
          <a:xfrm>
            <a:off x="17242400" y="4244342"/>
            <a:ext cx="62409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Severity classification for the rarest grade improved from </a:t>
            </a:r>
            <a:r>
              <a:rPr lang="en-US" sz="2200">
                <a:latin typeface="Calibri"/>
                <a:ea typeface="Calibri"/>
                <a:cs typeface="Calibri"/>
                <a:sym typeface="Calibri"/>
              </a:rPr>
              <a:t>0.856 → 0.928.</a:t>
            </a:r>
            <a:endParaRPr b="1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g3da86e2f604_0_0"/>
          <p:cNvSpPr/>
          <p:nvPr/>
        </p:nvSpPr>
        <p:spPr>
          <a:xfrm>
            <a:off x="17828900" y="3668667"/>
            <a:ext cx="4830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9F6E"/>
              </a:buClr>
              <a:buSzPts val="3800"/>
              <a:buFont typeface="Calibri"/>
              <a:buNone/>
            </a:pPr>
            <a:r>
              <a:rPr b="1" i="0" lang="en-US" sz="2700" u="none" cap="none" strike="noStrike">
                <a:solidFill>
                  <a:srgbClr val="0E9F6E"/>
                </a:solidFill>
                <a:latin typeface="Calibri"/>
                <a:ea typeface="Calibri"/>
                <a:cs typeface="Calibri"/>
                <a:sym typeface="Calibri"/>
              </a:rPr>
              <a:t>+0.0</a:t>
            </a:r>
            <a:r>
              <a:rPr b="1" lang="en-US" sz="2700">
                <a:solidFill>
                  <a:srgbClr val="0E9F6E"/>
                </a:solidFill>
                <a:latin typeface="Calibri"/>
                <a:ea typeface="Calibri"/>
                <a:cs typeface="Calibri"/>
                <a:sym typeface="Calibri"/>
              </a:rPr>
              <a:t>72</a:t>
            </a:r>
            <a:r>
              <a:rPr b="1" i="0" lang="en-US" sz="2700" u="none" cap="none" strike="noStrike">
                <a:solidFill>
                  <a:srgbClr val="0E9F6E"/>
                </a:solidFill>
                <a:latin typeface="Calibri"/>
                <a:ea typeface="Calibri"/>
                <a:cs typeface="Calibri"/>
                <a:sym typeface="Calibri"/>
              </a:rPr>
              <a:t> AUC Gain for KL 4</a:t>
            </a:r>
            <a:endParaRPr b="0" i="0" sz="2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g3da86e2f604_0_0"/>
          <p:cNvSpPr/>
          <p:nvPr/>
        </p:nvSpPr>
        <p:spPr>
          <a:xfrm>
            <a:off x="19774706" y="7245220"/>
            <a:ext cx="2687400" cy="25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None/>
            </a:pPr>
            <a:r>
              <a:rPr b="0" i="0" lang="en-US" sz="2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0.9598  →  0.9613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g3da86e2f604_0_0"/>
          <p:cNvSpPr/>
          <p:nvPr/>
        </p:nvSpPr>
        <p:spPr>
          <a:xfrm>
            <a:off x="16916688" y="5054885"/>
            <a:ext cx="6993600" cy="1310100"/>
          </a:xfrm>
          <a:prstGeom prst="rect">
            <a:avLst/>
          </a:prstGeom>
          <a:solidFill>
            <a:srgbClr val="F7F8FA"/>
          </a:solidFill>
          <a:ln cap="flat" cmpd="sng" w="28575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g3da86e2f604_0_0"/>
          <p:cNvSpPr/>
          <p:nvPr/>
        </p:nvSpPr>
        <p:spPr>
          <a:xfrm>
            <a:off x="17242400" y="5638442"/>
            <a:ext cx="6240900" cy="43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5-class macro AUC rose from 0.8779 to  0.9078 using 200% synthetic data.</a:t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g3da86e2f604_0_0"/>
          <p:cNvSpPr/>
          <p:nvPr/>
        </p:nvSpPr>
        <p:spPr>
          <a:xfrm>
            <a:off x="18035025" y="5021892"/>
            <a:ext cx="48309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3800"/>
              <a:buFont typeface="Calibri"/>
              <a:buNone/>
            </a:pPr>
            <a:r>
              <a:rPr b="1" i="0" lang="en-US" sz="2700" u="none" cap="none" strike="noStrike">
                <a:solidFill>
                  <a:srgbClr val="6D28D9"/>
                </a:solidFill>
                <a:latin typeface="Calibri"/>
                <a:ea typeface="Calibri"/>
                <a:cs typeface="Calibri"/>
                <a:sym typeface="Calibri"/>
              </a:rPr>
              <a:t>+0.030 Macro AUC Improvement</a:t>
            </a:r>
            <a:endParaRPr b="0" i="0" sz="2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g3da86e2f604_0_0"/>
          <p:cNvSpPr/>
          <p:nvPr/>
        </p:nvSpPr>
        <p:spPr>
          <a:xfrm>
            <a:off x="17032101" y="5960455"/>
            <a:ext cx="2687400" cy="25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g3da86e2f604_0_0"/>
          <p:cNvSpPr/>
          <p:nvPr/>
        </p:nvSpPr>
        <p:spPr>
          <a:xfrm>
            <a:off x="16926942" y="6522488"/>
            <a:ext cx="6993600" cy="1310100"/>
          </a:xfrm>
          <a:prstGeom prst="rect">
            <a:avLst/>
          </a:prstGeom>
          <a:solidFill>
            <a:srgbClr val="F7F8FA"/>
          </a:solidFill>
          <a:ln cap="flat" cmpd="sng" w="28575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g3da86e2f604_0_0"/>
          <p:cNvSpPr/>
          <p:nvPr/>
        </p:nvSpPr>
        <p:spPr>
          <a:xfrm>
            <a:off x="17847999" y="6645017"/>
            <a:ext cx="5017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3800"/>
              <a:buFont typeface="Calibri"/>
              <a:buNone/>
            </a:pPr>
            <a:r>
              <a:rPr b="1" i="0" lang="en-US" sz="2700" u="none" cap="none" strike="noStrike">
                <a:solidFill>
                  <a:srgbClr val="C8102E"/>
                </a:solidFill>
                <a:latin typeface="Calibri"/>
                <a:ea typeface="Calibri"/>
                <a:cs typeface="Calibri"/>
                <a:sym typeface="Calibri"/>
              </a:rPr>
              <a:t>15x reduction in Variance</a:t>
            </a:r>
            <a:endParaRPr b="0" i="0" sz="2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5" name="Google Shape;65;g3da86e2f604_0_0"/>
          <p:cNvCxnSpPr/>
          <p:nvPr/>
        </p:nvCxnSpPr>
        <p:spPr>
          <a:xfrm>
            <a:off x="16916450" y="8108608"/>
            <a:ext cx="7200900" cy="0"/>
          </a:xfrm>
          <a:prstGeom prst="straightConnector1">
            <a:avLst/>
          </a:prstGeom>
          <a:noFill/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6" name="Google Shape;66;g3da86e2f604_0_0"/>
          <p:cNvSpPr/>
          <p:nvPr/>
        </p:nvSpPr>
        <p:spPr>
          <a:xfrm>
            <a:off x="16916450" y="8307618"/>
            <a:ext cx="7200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A4F"/>
              </a:buClr>
              <a:buSzPts val="1800"/>
              <a:buFont typeface="Calibri"/>
              <a:buNone/>
            </a:pPr>
            <a:r>
              <a:rPr b="1" i="0" lang="en-US" sz="2600" u="none" cap="none" strike="noStrike">
                <a:solidFill>
                  <a:srgbClr val="2D3A4F"/>
                </a:solidFill>
                <a:latin typeface="Calibri"/>
                <a:ea typeface="Calibri"/>
                <a:cs typeface="Calibri"/>
                <a:sym typeface="Calibri"/>
              </a:rPr>
              <a:t>Per-Class AUC: Baseline vs. Diffusion 50% vs 200%</a:t>
            </a:r>
            <a:endParaRPr b="0" i="0" sz="2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7" name="Google Shape;67;g3da86e2f604_0_0"/>
          <p:cNvCxnSpPr/>
          <p:nvPr/>
        </p:nvCxnSpPr>
        <p:spPr>
          <a:xfrm>
            <a:off x="16916450" y="14644085"/>
            <a:ext cx="7200900" cy="0"/>
          </a:xfrm>
          <a:prstGeom prst="straightConnector1">
            <a:avLst/>
          </a:prstGeom>
          <a:noFill/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8" name="Google Shape;68;g3da86e2f604_0_0"/>
          <p:cNvSpPr/>
          <p:nvPr/>
        </p:nvSpPr>
        <p:spPr>
          <a:xfrm>
            <a:off x="16841738" y="14829095"/>
            <a:ext cx="7200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A4F"/>
              </a:buClr>
              <a:buSzPts val="1800"/>
              <a:buFont typeface="Calibri"/>
              <a:buNone/>
            </a:pPr>
            <a:r>
              <a:rPr b="1" i="0" lang="en-US" sz="2600" u="none" cap="none" strike="noStrike">
                <a:solidFill>
                  <a:srgbClr val="2D3A4F"/>
                </a:solidFill>
                <a:latin typeface="Calibri"/>
                <a:ea typeface="Calibri"/>
                <a:cs typeface="Calibri"/>
                <a:sym typeface="Calibri"/>
              </a:rPr>
              <a:t>Macro AUC vs. Synthetic Ratio</a:t>
            </a:r>
            <a:endParaRPr b="0" i="0" sz="2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g3da86e2f604_0_0"/>
          <p:cNvSpPr/>
          <p:nvPr/>
        </p:nvSpPr>
        <p:spPr>
          <a:xfrm>
            <a:off x="16841738" y="19923065"/>
            <a:ext cx="7200900" cy="777300"/>
          </a:xfrm>
          <a:prstGeom prst="rect">
            <a:avLst/>
          </a:prstGeom>
          <a:solidFill>
            <a:srgbClr val="F0F7FF"/>
          </a:solidFill>
          <a:ln cap="flat" cmpd="sng" w="1905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g3da86e2f604_0_0"/>
          <p:cNvSpPr/>
          <p:nvPr/>
        </p:nvSpPr>
        <p:spPr>
          <a:xfrm>
            <a:off x="16841738" y="19923065"/>
            <a:ext cx="109800" cy="777300"/>
          </a:xfrm>
          <a:prstGeom prst="rect">
            <a:avLst/>
          </a:prstGeom>
          <a:solidFill>
            <a:srgbClr val="6D28D9"/>
          </a:solidFill>
          <a:ln cap="flat" cmpd="sng" w="1270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g3da86e2f604_0_0"/>
          <p:cNvSpPr/>
          <p:nvPr/>
        </p:nvSpPr>
        <p:spPr>
          <a:xfrm>
            <a:off x="17116058" y="19923065"/>
            <a:ext cx="68352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600"/>
              <a:buFont typeface="Calibri"/>
              <a:buNone/>
            </a:pPr>
            <a:r>
              <a:rPr b="1" i="0" lang="en-US" sz="2200" u="none" cap="none" strike="noStrike">
                <a:solidFill>
                  <a:srgbClr val="6D28D9"/>
                </a:solidFill>
                <a:latin typeface="Calibri"/>
                <a:ea typeface="Calibri"/>
                <a:cs typeface="Calibri"/>
                <a:sym typeface="Calibri"/>
              </a:rPr>
              <a:t>3 / 3 seeds improved. 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Variance dropped 0.0148 → 0.0010   synthetic data also stabilizes training.</a:t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g3da86e2f604_0_0"/>
          <p:cNvSpPr/>
          <p:nvPr/>
        </p:nvSpPr>
        <p:spPr>
          <a:xfrm>
            <a:off x="24711660" y="2521819"/>
            <a:ext cx="7841100" cy="914400"/>
          </a:xfrm>
          <a:prstGeom prst="rect">
            <a:avLst/>
          </a:prstGeom>
          <a:solidFill>
            <a:srgbClr val="475569"/>
          </a:solidFill>
          <a:ln cap="flat" cmpd="sng" w="12700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g3da86e2f604_0_0"/>
          <p:cNvSpPr/>
          <p:nvPr/>
        </p:nvSpPr>
        <p:spPr>
          <a:xfrm>
            <a:off x="25077420" y="2521819"/>
            <a:ext cx="73839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Generated Samples &amp; Findings</a:t>
            </a:r>
            <a:endParaRPr b="1" i="0" sz="4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g3da86e2f604_0_0"/>
          <p:cNvSpPr/>
          <p:nvPr/>
        </p:nvSpPr>
        <p:spPr>
          <a:xfrm>
            <a:off x="25031700" y="19260600"/>
            <a:ext cx="7200900" cy="1463100"/>
          </a:xfrm>
          <a:prstGeom prst="rect">
            <a:avLst/>
          </a:prstGeom>
          <a:solidFill>
            <a:srgbClr val="FEF3F4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g3da86e2f604_0_0"/>
          <p:cNvSpPr/>
          <p:nvPr/>
        </p:nvSpPr>
        <p:spPr>
          <a:xfrm>
            <a:off x="25031700" y="19260600"/>
            <a:ext cx="137100" cy="1463100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g3da86e2f604_0_0"/>
          <p:cNvSpPr/>
          <p:nvPr/>
        </p:nvSpPr>
        <p:spPr>
          <a:xfrm>
            <a:off x="25351740" y="19365128"/>
            <a:ext cx="6743700" cy="1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500"/>
              <a:buFont typeface="Calibri"/>
              <a:buNone/>
            </a:pPr>
            <a:r>
              <a:rPr b="1" i="0" lang="en-US" sz="2100" u="none" cap="none" strike="noStrike">
                <a:solidFill>
                  <a:srgbClr val="C8102E"/>
                </a:solidFill>
                <a:latin typeface="Calibri"/>
                <a:ea typeface="Calibri"/>
                <a:cs typeface="Calibri"/>
                <a:sym typeface="Calibri"/>
              </a:rPr>
              <a:t>Limitations &amp; Future Work. </a:t>
            </a:r>
            <a:r>
              <a:rPr b="1" i="0" lang="en-US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FID 140–152 leaves room for higher fidelity. 180x180 is below clinical resolution. Single-site cohort, multi-site validation and a radiologist reader study are the next steps.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7" name="Google Shape;77;g3da86e2f604_0_0" title="Screenshot 2026-04-26 at 19.17.39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01175" y="7179425"/>
            <a:ext cx="6800850" cy="487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g3da86e2f604_0_0" title="Screenshot 2026-04-26 at 19.20.21.png"/>
          <p:cNvPicPr preferRelativeResize="0"/>
          <p:nvPr/>
        </p:nvPicPr>
        <p:blipFill rotWithShape="1">
          <a:blip r:embed="rId4">
            <a:alphaModFix/>
          </a:blip>
          <a:srcRect b="0" l="0" r="735" t="11158"/>
          <a:stretch/>
        </p:blipFill>
        <p:spPr>
          <a:xfrm>
            <a:off x="617307" y="13808233"/>
            <a:ext cx="7147796" cy="1446256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g3da86e2f604_0_0"/>
          <p:cNvSpPr/>
          <p:nvPr/>
        </p:nvSpPr>
        <p:spPr>
          <a:xfrm>
            <a:off x="17236375" y="7065692"/>
            <a:ext cx="62409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None/>
            </a:pPr>
            <a:r>
              <a:rPr b="0" i="0" lang="en-US" sz="22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Training stability improved significantly, with variance dropping from 0.0148 to 0.0010 across all seeds.</a:t>
            </a:r>
            <a:endParaRPr b="0" i="0" sz="2200" u="none" cap="none" strike="noStrike">
              <a:solidFill>
                <a:srgbClr val="1F293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0" name="Google Shape;80;g3da86e2f604_0_0"/>
          <p:cNvCxnSpPr/>
          <p:nvPr/>
        </p:nvCxnSpPr>
        <p:spPr>
          <a:xfrm>
            <a:off x="617306" y="6429024"/>
            <a:ext cx="7200900" cy="0"/>
          </a:xfrm>
          <a:prstGeom prst="straightConnector1">
            <a:avLst/>
          </a:prstGeom>
          <a:noFill/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1" name="Google Shape;81;g3da86e2f604_0_0"/>
          <p:cNvSpPr/>
          <p:nvPr/>
        </p:nvSpPr>
        <p:spPr>
          <a:xfrm>
            <a:off x="617300" y="15459273"/>
            <a:ext cx="7200900" cy="1920300"/>
          </a:xfrm>
          <a:prstGeom prst="rect">
            <a:avLst/>
          </a:prstGeom>
          <a:solidFill>
            <a:srgbClr val="F0F7FF"/>
          </a:solidFill>
          <a:ln cap="flat" cmpd="sng" w="12700">
            <a:solidFill>
              <a:srgbClr val="2D3A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g3da86e2f604_0_0"/>
          <p:cNvSpPr/>
          <p:nvPr/>
        </p:nvSpPr>
        <p:spPr>
          <a:xfrm>
            <a:off x="619325" y="15459273"/>
            <a:ext cx="137100" cy="1920300"/>
          </a:xfrm>
          <a:prstGeom prst="rect">
            <a:avLst/>
          </a:prstGeom>
          <a:solidFill>
            <a:srgbClr val="2D3A4F"/>
          </a:solidFill>
          <a:ln cap="flat" cmpd="sng" w="12700">
            <a:solidFill>
              <a:srgbClr val="2D3A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g3da86e2f604_0_0"/>
          <p:cNvSpPr/>
          <p:nvPr/>
        </p:nvSpPr>
        <p:spPr>
          <a:xfrm>
            <a:off x="945383" y="15622860"/>
            <a:ext cx="6591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A4F"/>
              </a:buClr>
              <a:buSzPts val="1800"/>
              <a:buFont typeface="Calibri"/>
              <a:buNone/>
            </a:pPr>
            <a:r>
              <a:rPr b="1" i="0" lang="en-US" sz="2600" u="none" cap="none" strike="noStrike">
                <a:solidFill>
                  <a:srgbClr val="2D3A4F"/>
                </a:solidFill>
                <a:latin typeface="Calibri"/>
                <a:ea typeface="Calibri"/>
                <a:cs typeface="Calibri"/>
                <a:sym typeface="Calibri"/>
              </a:rPr>
              <a:t>Why is this clinically important?</a:t>
            </a:r>
            <a:endParaRPr b="1" i="0" sz="2600" u="none" cap="none" strike="noStrike">
              <a:solidFill>
                <a:srgbClr val="2D3A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A4F"/>
              </a:buClr>
              <a:buSzPts val="1800"/>
              <a:buFont typeface="Calibri"/>
              <a:buNone/>
            </a:pPr>
            <a:r>
              <a:t/>
            </a:r>
            <a:endParaRPr b="1" i="0" sz="2400" u="none" cap="none" strike="noStrike">
              <a:solidFill>
                <a:srgbClr val="2D3A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g3da86e2f604_0_0"/>
          <p:cNvSpPr/>
          <p:nvPr/>
        </p:nvSpPr>
        <p:spPr>
          <a:xfrm>
            <a:off x="964178" y="16086970"/>
            <a:ext cx="6803100" cy="10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7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KL 3 / 4 are the grades that change treatment plans — surgical referral, joint injection, disease-modifying intervention. A classifier that misses severe disease at the rate determined by 118 training examples is a clinical liability, not just a benchmark loss.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g3da86e2f604_0_0"/>
          <p:cNvSpPr txBox="1"/>
          <p:nvPr/>
        </p:nvSpPr>
        <p:spPr>
          <a:xfrm>
            <a:off x="577550" y="18223792"/>
            <a:ext cx="73839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Helvetica Neue"/>
              <a:buChar char="●"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First class-conditional LDM applied to hand OA X-ray synthesis (prior work focuses on knees).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Helvetica Neue"/>
              <a:buChar char="●"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Real-image-sourced generation strategy for severe grades, preserves authentic bone anatomy.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Helvetica Neue"/>
              <a:buChar char="●"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Systematic CycleGAN vs LDM ablation across 5 ratios, 3 seeds — 51 total classifier runs.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Helvetica Neue"/>
              <a:buChar char="●"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Empirical evidence that the 50% synthetic cap is conservative for severely imbalanced classes.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6" name="Google Shape;86;g3da86e2f604_0_0" title="Screenshot 2026-04-27 at 15.28.08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0946" y="7901313"/>
            <a:ext cx="6993601" cy="3189649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g3da86e2f604_0_0"/>
          <p:cNvSpPr/>
          <p:nvPr/>
        </p:nvSpPr>
        <p:spPr>
          <a:xfrm>
            <a:off x="617306" y="17651671"/>
            <a:ext cx="7200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A4F"/>
              </a:buClr>
              <a:buSzPts val="1800"/>
              <a:buFont typeface="Calibri"/>
              <a:buNone/>
            </a:pPr>
            <a:r>
              <a:rPr b="1" i="0" lang="en-US" sz="2600" u="none" cap="none" strike="noStrike">
                <a:solidFill>
                  <a:srgbClr val="2D3A4F"/>
                </a:solidFill>
                <a:latin typeface="Calibri"/>
                <a:ea typeface="Calibri"/>
                <a:cs typeface="Calibri"/>
                <a:sym typeface="Calibri"/>
              </a:rPr>
              <a:t>Contributions</a:t>
            </a:r>
            <a:endParaRPr b="0" i="0" sz="2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g3da86e2f604_0_0"/>
          <p:cNvSpPr/>
          <p:nvPr/>
        </p:nvSpPr>
        <p:spPr>
          <a:xfrm>
            <a:off x="8817200" y="15324650"/>
            <a:ext cx="7130700" cy="2194500"/>
          </a:xfrm>
          <a:prstGeom prst="rect">
            <a:avLst/>
          </a:prstGeom>
          <a:solidFill>
            <a:srgbClr val="E3F1E7"/>
          </a:solidFill>
          <a:ln cap="flat" cmpd="sng" w="12700">
            <a:solidFill>
              <a:srgbClr val="4472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g3da86e2f604_0_0"/>
          <p:cNvSpPr txBox="1"/>
          <p:nvPr/>
        </p:nvSpPr>
        <p:spPr>
          <a:xfrm>
            <a:off x="253399" y="21320150"/>
            <a:ext cx="21328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5B6478"/>
                </a:solidFill>
                <a:highlight>
                  <a:srgbClr val="F5F6F8"/>
                </a:highlight>
                <a:latin typeface="Calibri"/>
                <a:ea typeface="Calibri"/>
                <a:cs typeface="Calibri"/>
                <a:sym typeface="Calibri"/>
              </a:rPr>
              <a:t>Selected references:</a:t>
            </a:r>
            <a:r>
              <a:rPr b="0" i="0" lang="en-US" sz="1700" u="none" cap="none" strike="noStrike">
                <a:solidFill>
                  <a:srgbClr val="5B6478"/>
                </a:solidFill>
                <a:highlight>
                  <a:srgbClr val="F5F6F8"/>
                </a:highlight>
                <a:latin typeface="Calibri"/>
                <a:ea typeface="Calibri"/>
                <a:cs typeface="Calibri"/>
                <a:sym typeface="Calibri"/>
              </a:rPr>
              <a:t> Rombach et al. CVPR 2022 (Latent Diffusion) · Wu et al. ECCV 2024 (IC-RDN) · Zhu et al. ICCV 2017 (CycleGAN) · Prezja et al. Sci. Reports 2022 · Butler et al. 2025 · He et al. CVPR 2016 (ResNet). Full bibliography in report.</a:t>
            </a:r>
            <a:endParaRPr b="0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g3da86e2f604_0_0"/>
          <p:cNvSpPr/>
          <p:nvPr/>
        </p:nvSpPr>
        <p:spPr>
          <a:xfrm>
            <a:off x="8801175" y="12197750"/>
            <a:ext cx="7130700" cy="2850600"/>
          </a:xfrm>
          <a:prstGeom prst="rect">
            <a:avLst/>
          </a:prstGeom>
          <a:solidFill>
            <a:srgbClr val="F7F8FA"/>
          </a:solidFill>
          <a:ln cap="flat" cmpd="sng" w="12700">
            <a:solidFill>
              <a:srgbClr val="4472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g3da86e2f604_0_0"/>
          <p:cNvSpPr/>
          <p:nvPr/>
        </p:nvSpPr>
        <p:spPr>
          <a:xfrm>
            <a:off x="9098300" y="12304829"/>
            <a:ext cx="3166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None/>
            </a:pPr>
            <a:r>
              <a:rPr b="1" i="0" lang="en-US" sz="2600" u="none" cap="none" strike="noStrike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Downstream Classifier</a:t>
            </a:r>
            <a:endParaRPr b="0" i="0" sz="2600" u="none" cap="none" strike="noStrike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g3da86e2f604_0_0"/>
          <p:cNvSpPr/>
          <p:nvPr/>
        </p:nvSpPr>
        <p:spPr>
          <a:xfrm>
            <a:off x="9098300" y="12818650"/>
            <a:ext cx="6591300" cy="201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Backbone: </a:t>
            </a:r>
            <a:r>
              <a:rPr b="0" i="0" lang="en-US" sz="1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ResNet-18, ImageNet pretrained, FC head replaced</a:t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Tasks: </a:t>
            </a:r>
            <a:r>
              <a:rPr b="0" i="0" lang="en-US" sz="1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Binary (KL 0–1 vs KL 2+) and 5-class (KL 0/1/2/3/4)</a:t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Imbalance: </a:t>
            </a:r>
            <a:r>
              <a:rPr b="0" i="0" lang="en-US" sz="1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Weighted cross-entropy + WeightedRandomSampler</a:t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Optimizer: </a:t>
            </a:r>
            <a:r>
              <a:rPr b="0" i="0" lang="en-US" sz="1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Adam (lr 1e-4), cosine annealing, early stop on val AUC</a:t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Protocol: </a:t>
            </a:r>
            <a:r>
              <a:rPr b="0" i="0" lang="en-US" sz="1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 seeds (42, 123, 456) · patient-level splits · held-out test  </a:t>
            </a:r>
            <a:endParaRPr b="1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3" name="Google Shape;93;g3da86e2f604_0_0"/>
          <p:cNvCxnSpPr/>
          <p:nvPr/>
        </p:nvCxnSpPr>
        <p:spPr>
          <a:xfrm>
            <a:off x="8801150" y="12113402"/>
            <a:ext cx="7200900" cy="0"/>
          </a:xfrm>
          <a:prstGeom prst="straightConnector1">
            <a:avLst/>
          </a:prstGeom>
          <a:noFill/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4" name="Google Shape;94;g3da86e2f604_0_0"/>
          <p:cNvSpPr txBox="1"/>
          <p:nvPr/>
        </p:nvSpPr>
        <p:spPr>
          <a:xfrm>
            <a:off x="9012747" y="15899599"/>
            <a:ext cx="68523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Domain A			  			  Domain B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KL 0-1 -&gt; 7,167 images	                  KL 2-4 -&gt; 2,032 images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Two-generator ResNet + PatchGAN discriminator – </a:t>
            </a: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75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epochs</a:t>
            </a:r>
            <a:endParaRPr/>
          </a:p>
        </p:txBody>
      </p:sp>
      <p:sp>
        <p:nvSpPr>
          <p:cNvPr id="95" name="Google Shape;95;g3da86e2f604_0_0"/>
          <p:cNvSpPr/>
          <p:nvPr/>
        </p:nvSpPr>
        <p:spPr>
          <a:xfrm>
            <a:off x="8836250" y="18329625"/>
            <a:ext cx="7130700" cy="2504700"/>
          </a:xfrm>
          <a:prstGeom prst="rect">
            <a:avLst/>
          </a:prstGeom>
          <a:solidFill>
            <a:srgbClr val="F7F8FA"/>
          </a:solidFill>
          <a:ln cap="flat" cmpd="sng" w="12700">
            <a:solidFill>
              <a:srgbClr val="4472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g3da86e2f604_0_0"/>
          <p:cNvSpPr/>
          <p:nvPr/>
        </p:nvSpPr>
        <p:spPr>
          <a:xfrm>
            <a:off x="9104675" y="15407875"/>
            <a:ext cx="6450600" cy="43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A4F"/>
              </a:buClr>
              <a:buSzPts val="1800"/>
              <a:buFont typeface="Calibri"/>
              <a:buNone/>
            </a:pPr>
            <a:r>
              <a:rPr b="1" i="0" lang="en-US" sz="2600" u="none" cap="none" strike="noStrike">
                <a:solidFill>
                  <a:srgbClr val="38761D"/>
                </a:solidFill>
                <a:latin typeface="Calibri"/>
                <a:ea typeface="Calibri"/>
                <a:cs typeface="Calibri"/>
                <a:sym typeface="Calibri"/>
              </a:rPr>
              <a:t>CycleGAN (Baseline) </a:t>
            </a:r>
            <a:endParaRPr b="0" i="0" sz="2600" u="none" cap="none" strike="noStrik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g3da86e2f604_0_0"/>
          <p:cNvSpPr txBox="1"/>
          <p:nvPr/>
        </p:nvSpPr>
        <p:spPr>
          <a:xfrm>
            <a:off x="9020000" y="18394775"/>
            <a:ext cx="67437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1. Visual fidelity.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Fréchet Inception Distance (FID) computed per KL grade.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2. Downstream evaluation. 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ResNet-18 retrained with synthetic mixed into real training set at 10% / 25% / 50% / 100% / 200% ratios per class. Test AUC compared to real-only baseline; each configuration replicated 3×.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Total: 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51 classifier runs – 5 synthetic ratios x 3 seeds across all configurations.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g3da86e2f604_0_0"/>
          <p:cNvSpPr/>
          <p:nvPr/>
        </p:nvSpPr>
        <p:spPr>
          <a:xfrm>
            <a:off x="8755325" y="17724663"/>
            <a:ext cx="69039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A4F"/>
              </a:buClr>
              <a:buSzPts val="1800"/>
              <a:buFont typeface="Calibri"/>
              <a:buNone/>
            </a:pPr>
            <a:r>
              <a:rPr b="1" i="0" lang="en-US" sz="2600" u="none" cap="none" strike="noStrike">
                <a:solidFill>
                  <a:srgbClr val="2D3A4F"/>
                </a:solidFill>
                <a:latin typeface="Calibri"/>
                <a:ea typeface="Calibri"/>
                <a:cs typeface="Calibri"/>
                <a:sym typeface="Calibri"/>
              </a:rPr>
              <a:t>Evaluation Framework</a:t>
            </a:r>
            <a:endParaRPr b="0" i="0" sz="2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g3da86e2f604_0_0"/>
          <p:cNvSpPr txBox="1"/>
          <p:nvPr/>
        </p:nvSpPr>
        <p:spPr>
          <a:xfrm>
            <a:off x="16875800" y="13605600"/>
            <a:ext cx="73839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Improvement is inversely proportional to real data availability: KL 4 (118 images) gains </a:t>
            </a: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~14×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AUC of KL 0 (5,947 images). Synthetic data concentrates value where real data is scarcest.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g3da86e2f604_0_0"/>
          <p:cNvSpPr/>
          <p:nvPr/>
        </p:nvSpPr>
        <p:spPr>
          <a:xfrm>
            <a:off x="25077420" y="3588107"/>
            <a:ext cx="7200900" cy="4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A4F"/>
              </a:buClr>
              <a:buSzPts val="2000"/>
              <a:buFont typeface="Calibri"/>
              <a:buNone/>
            </a:pPr>
            <a:r>
              <a:rPr b="1" i="0" lang="en-US" sz="2600" u="none" cap="none" strike="noStrike">
                <a:solidFill>
                  <a:srgbClr val="2D3A4F"/>
                </a:solidFill>
                <a:latin typeface="Calibri"/>
                <a:ea typeface="Calibri"/>
                <a:cs typeface="Calibri"/>
                <a:sym typeface="Calibri"/>
              </a:rPr>
              <a:t>Real vs. Diffusion-Generated</a:t>
            </a:r>
            <a:endParaRPr b="0" i="0" sz="2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g3da86e2f604_0_0"/>
          <p:cNvSpPr/>
          <p:nvPr/>
        </p:nvSpPr>
        <p:spPr>
          <a:xfrm>
            <a:off x="25126103" y="8523303"/>
            <a:ext cx="7200900" cy="6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KL 3 achieves the lowest FID, real-image-sourced generation anchors anatomy. FID values are elevated relative to knee OA literature; the small reference distributions for rare grades (~118 images) inflate FID by design.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2" name="Google Shape;102;g3da86e2f604_0_0"/>
          <p:cNvCxnSpPr/>
          <p:nvPr/>
        </p:nvCxnSpPr>
        <p:spPr>
          <a:xfrm>
            <a:off x="25031700" y="9454528"/>
            <a:ext cx="7200900" cy="0"/>
          </a:xfrm>
          <a:prstGeom prst="straightConnector1">
            <a:avLst/>
          </a:prstGeom>
          <a:noFill/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g3da86e2f604_0_0"/>
          <p:cNvSpPr/>
          <p:nvPr/>
        </p:nvSpPr>
        <p:spPr>
          <a:xfrm>
            <a:off x="25031750" y="9563400"/>
            <a:ext cx="7200900" cy="4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A4F"/>
              </a:buClr>
              <a:buSzPts val="2000"/>
              <a:buFont typeface="Calibri"/>
              <a:buNone/>
            </a:pPr>
            <a:r>
              <a:rPr b="1" i="0" lang="en-US" sz="2600" u="none" cap="none" strike="noStrike">
                <a:solidFill>
                  <a:srgbClr val="2D3A4F"/>
                </a:solidFill>
                <a:latin typeface="Calibri"/>
                <a:ea typeface="Calibri"/>
                <a:cs typeface="Calibri"/>
                <a:sym typeface="Calibri"/>
              </a:rPr>
              <a:t>CycleGAN</a:t>
            </a:r>
            <a:endParaRPr b="0" i="0" sz="2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4" name="Google Shape;104;g3da86e2f604_0_0"/>
          <p:cNvCxnSpPr/>
          <p:nvPr/>
        </p:nvCxnSpPr>
        <p:spPr>
          <a:xfrm>
            <a:off x="25031700" y="13978161"/>
            <a:ext cx="7200900" cy="0"/>
          </a:xfrm>
          <a:prstGeom prst="straightConnector1">
            <a:avLst/>
          </a:prstGeom>
          <a:noFill/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5" name="Google Shape;105;g3da86e2f604_0_0"/>
          <p:cNvSpPr/>
          <p:nvPr/>
        </p:nvSpPr>
        <p:spPr>
          <a:xfrm>
            <a:off x="25031750" y="14122776"/>
            <a:ext cx="7200900" cy="4958700"/>
          </a:xfrm>
          <a:prstGeom prst="rect">
            <a:avLst/>
          </a:prstGeom>
          <a:solidFill>
            <a:srgbClr val="F7F8FA"/>
          </a:solidFill>
          <a:ln cap="flat" cmpd="sng" w="19050">
            <a:solidFill>
              <a:srgbClr val="2D3A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g3da86e2f604_0_0"/>
          <p:cNvSpPr/>
          <p:nvPr/>
        </p:nvSpPr>
        <p:spPr>
          <a:xfrm>
            <a:off x="25031750" y="14122775"/>
            <a:ext cx="7200900" cy="493800"/>
          </a:xfrm>
          <a:prstGeom prst="rect">
            <a:avLst/>
          </a:prstGeom>
          <a:solidFill>
            <a:srgbClr val="2D3A4F"/>
          </a:solidFill>
          <a:ln cap="flat" cmpd="sng" w="12700">
            <a:solidFill>
              <a:srgbClr val="2D3A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g3da86e2f604_0_0"/>
          <p:cNvSpPr/>
          <p:nvPr/>
        </p:nvSpPr>
        <p:spPr>
          <a:xfrm>
            <a:off x="25306070" y="14122775"/>
            <a:ext cx="68352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Findings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g3da86e2f604_0_0"/>
          <p:cNvSpPr/>
          <p:nvPr/>
        </p:nvSpPr>
        <p:spPr>
          <a:xfrm>
            <a:off x="25351800" y="14857700"/>
            <a:ext cx="6560700" cy="40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Calibri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1. Class-conditional generation is the architectural lever. 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CycleGAN's two-domain design cannot do per-grade synthesis, diffusion can. That single capability unlocks the 5-class task entirely.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Calibri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2. Synthetic data follows a dose-response curve. 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Across all augmentation ratios (10% → 200%) and 3 seeds, 5-class macro AUC scales monotonically from 50% onward. The effect isn't a single lucky configuration, it's a controlled trend.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Calibri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3. Value concentrates where data is scarcest. 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KL 4 (118 real images) gained </a:t>
            </a:r>
            <a:r>
              <a:rPr b="1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r>
              <a:rPr b="1" lang="en-US" sz="1800">
                <a:latin typeface="Calibri"/>
                <a:ea typeface="Calibri"/>
                <a:cs typeface="Calibri"/>
                <a:sym typeface="Calibri"/>
              </a:rPr>
              <a:t>0.072 </a:t>
            </a:r>
            <a:r>
              <a:rPr b="1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AUC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; KL 0 (5,947 real images) gained only +0.005. Synthetic data is most useful exactly where new data is hardest to collect.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g3da86e2f604_0_0"/>
          <p:cNvSpPr txBox="1"/>
          <p:nvPr/>
        </p:nvSpPr>
        <p:spPr>
          <a:xfrm>
            <a:off x="25031750" y="10694211"/>
            <a:ext cx="7059900" cy="3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72900" lIns="72900" spcFirstLastPara="1" rIns="72900" wrap="square" tIns="72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6"/>
              <a:buFont typeface="Arial"/>
              <a:buNone/>
            </a:pPr>
            <a:r>
              <a:rPr b="1" i="0" lang="en-US" sz="135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KL 0-1</a:t>
            </a:r>
            <a:endParaRPr b="1" i="0" sz="135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g3da86e2f604_0_0"/>
          <p:cNvSpPr txBox="1"/>
          <p:nvPr/>
        </p:nvSpPr>
        <p:spPr>
          <a:xfrm>
            <a:off x="25034324" y="12038161"/>
            <a:ext cx="7059900" cy="3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72900" lIns="72900" spcFirstLastPara="1" rIns="72900" wrap="square" tIns="72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6"/>
              <a:buFont typeface="Arial"/>
              <a:buNone/>
            </a:pPr>
            <a:r>
              <a:rPr b="1" i="0" lang="en-US" sz="135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KL 2+ </a:t>
            </a:r>
            <a:endParaRPr b="1" i="0" sz="135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g3da86e2f604_0_0"/>
          <p:cNvSpPr txBox="1"/>
          <p:nvPr/>
        </p:nvSpPr>
        <p:spPr>
          <a:xfrm>
            <a:off x="25031750" y="12796170"/>
            <a:ext cx="72009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CycleGAN's two-domain architecture cannot do per-grade synthesis. Bone structure degrades with severity in generated outputs, visible distortion absent in LDM samples above. Excluded from 5-class evaluation by design.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2" name="Google Shape;112;g3da86e2f604_0_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5168875" y="4771257"/>
            <a:ext cx="1279500" cy="289503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g3da86e2f604_0_0"/>
          <p:cNvSpPr/>
          <p:nvPr/>
        </p:nvSpPr>
        <p:spPr>
          <a:xfrm>
            <a:off x="25221300" y="4064067"/>
            <a:ext cx="1179600" cy="640200"/>
          </a:xfrm>
          <a:prstGeom prst="rect">
            <a:avLst/>
          </a:prstGeom>
          <a:solidFill>
            <a:srgbClr val="2D3A4F"/>
          </a:solidFill>
          <a:ln cap="flat" cmpd="sng" w="9525">
            <a:solidFill>
              <a:srgbClr val="2D3A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9425" lIns="59425" spcFirstLastPara="1" rIns="59425" wrap="square" tIns="59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60"/>
              <a:buFont typeface="Arial"/>
              <a:buNone/>
            </a:pPr>
            <a:r>
              <a:t/>
            </a:r>
            <a:endParaRPr b="0" i="0" sz="156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g3da86e2f604_0_0"/>
          <p:cNvSpPr/>
          <p:nvPr/>
        </p:nvSpPr>
        <p:spPr>
          <a:xfrm>
            <a:off x="25377975" y="4087017"/>
            <a:ext cx="8613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10"/>
              <a:buFont typeface="Calibri"/>
              <a:buNone/>
            </a:pPr>
            <a:r>
              <a:rPr b="1" i="0" lang="en-US" sz="156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KL 0</a:t>
            </a:r>
            <a:endParaRPr b="0" i="0" sz="156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g3da86e2f604_0_0"/>
          <p:cNvSpPr/>
          <p:nvPr/>
        </p:nvSpPr>
        <p:spPr>
          <a:xfrm>
            <a:off x="26522925" y="4064067"/>
            <a:ext cx="1179600" cy="640200"/>
          </a:xfrm>
          <a:prstGeom prst="rect">
            <a:avLst/>
          </a:prstGeom>
          <a:solidFill>
            <a:srgbClr val="0B5394"/>
          </a:solidFill>
          <a:ln cap="flat" cmpd="sng" w="9525">
            <a:solidFill>
              <a:srgbClr val="2D3A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9425" lIns="59425" spcFirstLastPara="1" rIns="59425" wrap="square" tIns="59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60"/>
              <a:buFont typeface="Arial"/>
              <a:buNone/>
            </a:pPr>
            <a:r>
              <a:t/>
            </a:r>
            <a:endParaRPr b="0" i="0" sz="156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g3da86e2f604_0_0"/>
          <p:cNvSpPr/>
          <p:nvPr/>
        </p:nvSpPr>
        <p:spPr>
          <a:xfrm>
            <a:off x="26679600" y="4087017"/>
            <a:ext cx="8613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10"/>
              <a:buFont typeface="Calibri"/>
              <a:buNone/>
            </a:pPr>
            <a:r>
              <a:rPr b="1" i="0" lang="en-US" sz="156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KL 1</a:t>
            </a:r>
            <a:endParaRPr b="0" i="0" sz="156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g3da86e2f604_0_0"/>
          <p:cNvSpPr/>
          <p:nvPr/>
        </p:nvSpPr>
        <p:spPr>
          <a:xfrm>
            <a:off x="27824550" y="4064067"/>
            <a:ext cx="1179600" cy="640200"/>
          </a:xfrm>
          <a:prstGeom prst="rect">
            <a:avLst/>
          </a:prstGeom>
          <a:solidFill>
            <a:srgbClr val="B45F06"/>
          </a:solidFill>
          <a:ln cap="flat" cmpd="sng" w="9525">
            <a:solidFill>
              <a:srgbClr val="2D3A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9425" lIns="59425" spcFirstLastPara="1" rIns="59425" wrap="square" tIns="59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60"/>
              <a:buFont typeface="Arial"/>
              <a:buNone/>
            </a:pPr>
            <a:r>
              <a:t/>
            </a:r>
            <a:endParaRPr b="0" i="0" sz="156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g3da86e2f604_0_0"/>
          <p:cNvSpPr/>
          <p:nvPr/>
        </p:nvSpPr>
        <p:spPr>
          <a:xfrm>
            <a:off x="27981225" y="4087017"/>
            <a:ext cx="8613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10"/>
              <a:buFont typeface="Calibri"/>
              <a:buNone/>
            </a:pPr>
            <a:r>
              <a:rPr b="1" i="0" lang="en-US" sz="156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KL 2</a:t>
            </a:r>
            <a:endParaRPr b="0" i="0" sz="156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g3da86e2f604_0_0"/>
          <p:cNvSpPr/>
          <p:nvPr/>
        </p:nvSpPr>
        <p:spPr>
          <a:xfrm>
            <a:off x="29126175" y="4064067"/>
            <a:ext cx="1179600" cy="640200"/>
          </a:xfrm>
          <a:prstGeom prst="rect">
            <a:avLst/>
          </a:prstGeom>
          <a:solidFill>
            <a:srgbClr val="CC4125"/>
          </a:solidFill>
          <a:ln cap="flat" cmpd="sng" w="9525">
            <a:solidFill>
              <a:srgbClr val="2D3A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9425" lIns="59425" spcFirstLastPara="1" rIns="59425" wrap="square" tIns="59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60"/>
              <a:buFont typeface="Arial"/>
              <a:buNone/>
            </a:pPr>
            <a:r>
              <a:t/>
            </a:r>
            <a:endParaRPr b="0" i="0" sz="156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g3da86e2f604_0_0"/>
          <p:cNvSpPr/>
          <p:nvPr/>
        </p:nvSpPr>
        <p:spPr>
          <a:xfrm>
            <a:off x="29282850" y="4087017"/>
            <a:ext cx="8613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10"/>
              <a:buFont typeface="Calibri"/>
              <a:buNone/>
            </a:pPr>
            <a:r>
              <a:rPr b="1" i="0" lang="en-US" sz="156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KL 3</a:t>
            </a:r>
            <a:endParaRPr b="0" i="0" sz="156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g3da86e2f604_0_0"/>
          <p:cNvSpPr/>
          <p:nvPr/>
        </p:nvSpPr>
        <p:spPr>
          <a:xfrm>
            <a:off x="30427800" y="4064067"/>
            <a:ext cx="1179600" cy="640200"/>
          </a:xfrm>
          <a:prstGeom prst="rect">
            <a:avLst/>
          </a:prstGeom>
          <a:solidFill>
            <a:srgbClr val="980000"/>
          </a:solidFill>
          <a:ln cap="flat" cmpd="sng" w="9525">
            <a:solidFill>
              <a:srgbClr val="2D3A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9425" lIns="59425" spcFirstLastPara="1" rIns="59425" wrap="square" tIns="59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60"/>
              <a:buFont typeface="Arial"/>
              <a:buNone/>
            </a:pPr>
            <a:r>
              <a:t/>
            </a:r>
            <a:endParaRPr b="0" i="0" sz="156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g3da86e2f604_0_0"/>
          <p:cNvSpPr/>
          <p:nvPr/>
        </p:nvSpPr>
        <p:spPr>
          <a:xfrm>
            <a:off x="30584475" y="4087017"/>
            <a:ext cx="8613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10"/>
              <a:buFont typeface="Calibri"/>
              <a:buNone/>
            </a:pPr>
            <a:r>
              <a:rPr b="1" i="0" lang="en-US" sz="156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KL 4</a:t>
            </a:r>
            <a:endParaRPr b="0" i="0" sz="156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g3da86e2f604_0_0"/>
          <p:cNvSpPr txBox="1"/>
          <p:nvPr/>
        </p:nvSpPr>
        <p:spPr>
          <a:xfrm>
            <a:off x="25045475" y="7693525"/>
            <a:ext cx="7245900" cy="692700"/>
          </a:xfrm>
          <a:prstGeom prst="rect">
            <a:avLst/>
          </a:prstGeom>
          <a:solidFill>
            <a:srgbClr val="F5F6F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LDM-generated X-rays · Visible OA progression: smooth bone margins (KL 0) → osteophytes &amp; joint space narrowing (KL 3) → severe sclerosis &amp; deformity (KL 4).</a:t>
            </a:r>
            <a:endParaRPr b="0" i="0" sz="16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4" name="Google Shape;124;g3da86e2f604_0_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6472975" y="4748201"/>
            <a:ext cx="1279500" cy="28327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g3da86e2f604_0_0"/>
          <p:cNvPicPr preferRelativeResize="0"/>
          <p:nvPr/>
        </p:nvPicPr>
        <p:blipFill rotWithShape="1">
          <a:blip r:embed="rId8">
            <a:alphaModFix/>
          </a:blip>
          <a:srcRect b="0" l="0" r="50903" t="0"/>
          <a:stretch/>
        </p:blipFill>
        <p:spPr>
          <a:xfrm>
            <a:off x="27777075" y="4741837"/>
            <a:ext cx="1279500" cy="2865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g3da86e2f604_0_0"/>
          <p:cNvPicPr preferRelativeResize="0"/>
          <p:nvPr/>
        </p:nvPicPr>
        <p:blipFill rotWithShape="1">
          <a:blip r:embed="rId9">
            <a:alphaModFix/>
          </a:blip>
          <a:srcRect b="0" l="0" r="50419" t="0"/>
          <a:stretch/>
        </p:blipFill>
        <p:spPr>
          <a:xfrm>
            <a:off x="29086128" y="4714958"/>
            <a:ext cx="1279500" cy="284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g3da86e2f604_0_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0395166" y="4767259"/>
            <a:ext cx="1279500" cy="276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g3da86e2f604_0_0"/>
          <p:cNvSpPr txBox="1"/>
          <p:nvPr/>
        </p:nvSpPr>
        <p:spPr>
          <a:xfrm>
            <a:off x="720946" y="13524241"/>
            <a:ext cx="7044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KL 0: Normal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</a:t>
            </a:r>
            <a:r>
              <a:rPr b="0" i="0" lang="en-US" sz="1600" u="none" cap="none" strike="noStrike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KL 1: Doubtful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  </a:t>
            </a:r>
            <a:r>
              <a:rPr b="0" i="0" lang="en-US" sz="1600" u="none" cap="none" strike="noStrike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KL 2: Mild 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</a:t>
            </a:r>
            <a:r>
              <a:rPr b="0" i="0" lang="en-US" sz="1600" u="none" cap="none" strike="noStrike">
                <a:solidFill>
                  <a:srgbClr val="833C0B"/>
                </a:solidFill>
                <a:latin typeface="Calibri"/>
                <a:ea typeface="Calibri"/>
                <a:cs typeface="Calibri"/>
                <a:sym typeface="Calibri"/>
              </a:rPr>
              <a:t>KL 3: Moderate 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</a:t>
            </a:r>
            <a:r>
              <a:rPr b="0" i="0" lang="en-US" sz="16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KL 4: Severe</a:t>
            </a:r>
            <a:endParaRPr/>
          </a:p>
        </p:txBody>
      </p:sp>
      <p:pic>
        <p:nvPicPr>
          <p:cNvPr id="129" name="Google Shape;129;g3da86e2f604_0_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5868719" y="10013446"/>
            <a:ext cx="6226722" cy="27952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g3da86e2f604_0_0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6862550" y="15302587"/>
            <a:ext cx="7130700" cy="45227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g3da86e2f604_0_0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6951559" y="8923859"/>
            <a:ext cx="7130700" cy="45227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